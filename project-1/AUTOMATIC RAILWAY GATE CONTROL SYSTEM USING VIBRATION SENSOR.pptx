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5"/>
  </p:notesMasterIdLst>
  <p:handoutMasterIdLst>
    <p:handoutMasterId r:id="rId16"/>
  </p:handoutMasterIdLst>
  <p:sldIdLst>
    <p:sldId id="341" r:id="rId5"/>
    <p:sldId id="342" r:id="rId6"/>
    <p:sldId id="343" r:id="rId7"/>
    <p:sldId id="346" r:id="rId8"/>
    <p:sldId id="347" r:id="rId9"/>
    <p:sldId id="344" r:id="rId10"/>
    <p:sldId id="349" r:id="rId11"/>
    <p:sldId id="345" r:id="rId12"/>
    <p:sldId id="348" r:id="rId13"/>
    <p:sldId id="35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301D-2245-5176-C10F-44DB143D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11" y="1987610"/>
            <a:ext cx="10515600" cy="152360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AUTOMATIC RAILWAY GATE CONTROL SYSTEM USING VIBRATION SENSOR</a:t>
            </a:r>
            <a:endParaRPr lang="en-IN" sz="44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41B47-1A05-CA62-CFB1-9776505F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0168" y="4870390"/>
            <a:ext cx="3778340" cy="1229765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rgbClr val="C00000"/>
                </a:solidFill>
                <a:latin typeface="Bahnschrift" panose="020B0502040204020203" pitchFamily="34" charset="0"/>
              </a:rPr>
              <a:t>BY,</a:t>
            </a:r>
          </a:p>
          <a:p>
            <a:r>
              <a:rPr lang="en-US" sz="3200" dirty="0">
                <a:solidFill>
                  <a:srgbClr val="C00000"/>
                </a:solidFill>
                <a:latin typeface="Bahnschrift" panose="020B0502040204020203" pitchFamily="34" charset="0"/>
              </a:rPr>
              <a:t>      NAGARAJ .V</a:t>
            </a:r>
            <a:endParaRPr lang="en-IN" sz="32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49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13D0-BEF6-F4EA-D8CE-2867F8CD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" panose="020B0502040204020203" pitchFamily="34" charset="0"/>
              </a:rPr>
              <a:t>1. </a:t>
            </a:r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INTRODUCTION</a:t>
            </a:r>
            <a:r>
              <a:rPr lang="en-IN" dirty="0">
                <a:solidFill>
                  <a:srgbClr val="C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D78E-FA56-7C0D-B672-9C93710D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197892-CFDC-52ED-134F-FCEBB24CA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5566" y="1689406"/>
            <a:ext cx="6763390" cy="4129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Railway crossings are accident-prone areas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Manual gate operation may cause delay or human error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This project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vibration 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 to detect train movement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Sensor is placed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2 km before the railway gate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Bahnschrift SemiLight" panose="020B0502040204020203" pitchFamily="34" charset="0"/>
            </a:endParaRP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When train is detected, the gate closes automatically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This system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Light" panose="020B0502040204020203" pitchFamily="34" charset="0"/>
              </a:rPr>
              <a:t>safety and automation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0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3912-89C2-367E-729B-27866F9D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" panose="020B0502040204020203" pitchFamily="34" charset="0"/>
              </a:rPr>
              <a:t>3 . </a:t>
            </a:r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ABSTRACT</a:t>
            </a:r>
            <a:r>
              <a:rPr lang="en-IN" dirty="0">
                <a:solidFill>
                  <a:srgbClr val="C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26023-2106-AE7A-21BC-93D05D1D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A1B7F-3115-AE30-708D-8E1B4890F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1691" y="1512973"/>
            <a:ext cx="6862916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The project detects a train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2 km before the gate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It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vibration 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on the railway track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Train movement creates vibration on the track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Sensor sends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signal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to the microcontroller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Opposite gate closes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After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2 minutes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main gate closes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Speaker gives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warning alert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After train passes, gates open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01472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6A71-02A6-9BB7-5D85-72FD220E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4 . OBJECTIVE:</a:t>
            </a:r>
            <a:endParaRPr lang="en-IN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10EC8-9C69-43A8-8223-A8BEECF0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679BC4-8F26-8A0A-12E6-04E57EA29F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6665" y="1981014"/>
            <a:ext cx="5290231" cy="3325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detect train before reaching the railway gate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close the gate automatically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reduce railway crossing accidents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provide early warning using speaker alert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reduce manual work and human error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To improve safety in unmanned crossings</a:t>
            </a:r>
          </a:p>
        </p:txBody>
      </p:sp>
    </p:spTree>
    <p:extLst>
      <p:ext uri="{BB962C8B-B14F-4D97-AF65-F5344CB8AC3E}">
        <p14:creationId xmlns:p14="http://schemas.microsoft.com/office/powerpoint/2010/main" val="126624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A86F-81FE-38C9-9040-7B53D9A6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5 . MATERIALS REQUIRED: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BBA41-F137-BA1D-61D5-5BA4CC063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Hardware: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53744-068C-0AE9-DA36-6BE64BC9A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1902" y="1690688"/>
            <a:ext cx="5183188" cy="823912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Software: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A0CE4-1474-F17F-5BB1-8F2A39E2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7AE11A6-EE62-0036-6A64-A5CC0BC2078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936346" y="2768131"/>
            <a:ext cx="285046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Vibration Sensor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Arduino UNO / ESP32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Servo Motor / DC Motor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Motor Driver Module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Speaker / Buzzer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IR Sensor / Exit Sensor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Relay Module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Power Supply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Connecting Wires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Gate Model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25AC8D2-A6F5-5F01-2440-89907A3702B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485068" y="3016251"/>
            <a:ext cx="1702710" cy="1282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Arduino IDE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Embedded C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103086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0B04-7EBE-7365-368D-9232D328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6 .WORKING PRINCIPLE: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042D3-68B8-53CD-E899-EAC04866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EC28D0-1E89-19BF-FEA4-C10AB44F8C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0935" y="1680395"/>
            <a:ext cx="5001690" cy="443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Vibration sensor monitors railway track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Train creates vibration on the track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Sensor detects vibration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2 km before gate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Bahnschrift SemiBold" panose="020B0502040204020203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Signal is sent to the microcontroller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Speaker alert turns 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Opposite gate closes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Bahnschrift SemiBold" panose="020B0502040204020203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After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2 minutes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main gate closes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Bahnschrift SemiBold" panose="020B0502040204020203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After train passes, gates open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09796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B665-2AC1-C7FF-8B0A-A9A377DD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7.FLOW CHART: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9AC16A-296D-B74F-4F26-E722C18FC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7536" y="1406013"/>
            <a:ext cx="4473678" cy="50868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201CC-464E-0604-9E70-716D551B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5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DC1D-4B5B-A9B9-35B7-B4FF2437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8.COMPARISON: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EC30FEA-4C7E-D63F-549B-6F74A36FB3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715392"/>
              </p:ext>
            </p:extLst>
          </p:nvPr>
        </p:nvGraphicFramePr>
        <p:xfrm>
          <a:off x="420688" y="1917290"/>
          <a:ext cx="10515600" cy="32919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524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9179396"/>
                    </a:ext>
                  </a:extLst>
                </a:gridCol>
              </a:tblGrid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Manual System</a:t>
                      </a:r>
                      <a:endParaRPr lang="en-IN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Automatic System</a:t>
                      </a:r>
                      <a:endParaRPr lang="en-IN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933065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Manual operation</a:t>
                      </a:r>
                      <a:endParaRPr lang="en-IN" dirty="0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Automatic operation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295571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More human error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Less human error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832708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Delay possible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Fast response</a:t>
                      </a:r>
                      <a:endParaRPr lang="en-IN" dirty="0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25597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Less safety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More safety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304703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No early warning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Early warning available</a:t>
                      </a:r>
                      <a:endParaRPr lang="en-IN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477535"/>
                  </a:ext>
                </a:extLst>
              </a:tr>
              <a:tr h="47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Not suitable for unmanned areas</a:t>
                      </a:r>
                      <a:endParaRPr lang="en-US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Suitable for unmanned areas</a:t>
                      </a:r>
                      <a:endParaRPr lang="en-IN" dirty="0">
                        <a:solidFill>
                          <a:srgbClr val="C0000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4442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BC236-328C-761D-A417-BD9898CD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21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2F53-0267-9ADF-CED1-1D59112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9.ADVANTAGES: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6B04D-9F71-354D-E621-EB5BD94D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B934DA-2E5F-5733-9319-8941DD805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9030" y="1951517"/>
            <a:ext cx="4020652" cy="3325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Unmanned railway crossings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Rural railway gate areas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Smart railway automation systems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Industrial railway crossings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Railway station entry/exit control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Public safety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409056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7584-FE85-AEB1-7DFC-6613669D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ahnschrift SemiBold" panose="020B0502040204020203" pitchFamily="34" charset="0"/>
              </a:rPr>
              <a:t>10.CONCLUSION: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AAF5-A175-EF19-2C2D-C3DE7502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246ECD-F0E3-656C-4C2D-59C8562D5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0572" y="1831835"/>
            <a:ext cx="4145687" cy="387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Automatic gate control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Reduces human error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Prevents railway crossing accidents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Early train detection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Speaker alert for public safety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Suitable for unmanned crossings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" panose="020B0502040204020203" pitchFamily="34" charset="0"/>
              </a:rPr>
              <a:t>Low cost and easy to implement</a:t>
            </a:r>
          </a:p>
        </p:txBody>
      </p:sp>
    </p:spTree>
    <p:extLst>
      <p:ext uri="{BB962C8B-B14F-4D97-AF65-F5344CB8AC3E}">
        <p14:creationId xmlns:p14="http://schemas.microsoft.com/office/powerpoint/2010/main" val="118581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AUTOMATIC RAILWAY GATE CONTROL SYSTEM USING VIBRATION SENSOR</Template>
  <TotalTime>45</TotalTime>
  <Words>378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Bahnschrift</vt:lpstr>
      <vt:lpstr>Bahnschrift SemiBold</vt:lpstr>
      <vt:lpstr>Bahnschrift SemiLight</vt:lpstr>
      <vt:lpstr>Calibri</vt:lpstr>
      <vt:lpstr>Dante</vt:lpstr>
      <vt:lpstr>Dante (Headings)2</vt:lpstr>
      <vt:lpstr>Wingdings 2</vt:lpstr>
      <vt:lpstr>OffsetVTI</vt:lpstr>
      <vt:lpstr>AUTOMATIC RAILWAY GATE CONTROL SYSTEM USING VIBRATION SENSOR</vt:lpstr>
      <vt:lpstr>1. INTRODUCTION:</vt:lpstr>
      <vt:lpstr>3 . ABSTRACT:</vt:lpstr>
      <vt:lpstr>4 . OBJECTIVE:</vt:lpstr>
      <vt:lpstr>5 . MATERIALS REQUIRED:</vt:lpstr>
      <vt:lpstr>6 .WORKING PRINCIPLE:</vt:lpstr>
      <vt:lpstr>7.FLOW CHART:</vt:lpstr>
      <vt:lpstr>8.COMPARISON:</vt:lpstr>
      <vt:lpstr>9.ADVANTAGES:</vt:lpstr>
      <vt:lpstr>10.CONCLUSION: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Nagaraj 18</dc:creator>
  <cp:lastModifiedBy>Nagaraj 18</cp:lastModifiedBy>
  <cp:revision>1</cp:revision>
  <dcterms:created xsi:type="dcterms:W3CDTF">2026-03-14T13:36:15Z</dcterms:created>
  <dcterms:modified xsi:type="dcterms:W3CDTF">2026-03-14T15:03:29Z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